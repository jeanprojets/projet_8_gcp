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3" Type="http://schemas.openxmlformats.org/officeDocument/2006/relationships/viewProps" Target="viewProps.xml" /><Relationship Id="rId3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5" Type="http://schemas.openxmlformats.org/officeDocument/2006/relationships/tableStyles" Target="tableStyles.xml" /><Relationship Id="rId3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huggingface.co/spaces/JeanProjets/projet-8-app" TargetMode="External" /><Relationship Id="rId3" Type="http://schemas.openxmlformats.org/officeDocument/2006/relationships/hyperlink" Target="https://huggingface.co/spaces/JeanProjets/projet-8-api" TargetMode="Externa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Modèle de Segmentation d’Images pour Système Embarqué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Soutenance Projet 8 - Ingénieur IA</a:t>
            </a:r>
            <a:br/>
            <a:r>
              <a:rPr i="1"/>
              <a:t>Future Vision Transport</a:t>
            </a:r>
            <a:br/>
            <a:r>
              <a:rPr b="1"/>
              <a:t>Présenté par :</a:t>
            </a:r>
            <a:r>
              <a:rPr/>
              <a:t> Jean Projets</a:t>
            </a:r>
            <a:br/>
            <a:r>
              <a:rPr b="1"/>
              <a:t>Date :</a:t>
            </a:r>
            <a:r>
              <a:rPr/>
              <a:t> Mai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Le Contexte de l’Entreprise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Future Vision Transport</a:t>
            </a:r>
            <a:r>
              <a:rPr/>
              <a:t> : Acteur clé dans le développement de véhicules autonomes.</a:t>
            </a:r>
          </a:p>
          <a:p>
            <a:pPr lvl="0"/>
            <a:r>
              <a:rPr b="1"/>
              <a:t>La chaîne de vision par ordinateur</a:t>
            </a:r>
            <a:r>
              <a:rPr/>
              <a:t> : Elle capte les flux vidéo en direct pour comprendre l’environnement routier.</a:t>
            </a:r>
          </a:p>
          <a:p>
            <a:pPr lvl="0"/>
            <a:r>
              <a:rPr b="1"/>
              <a:t>Notre Mission (Étape 3 du pipeline)</a:t>
            </a:r>
            <a:r>
              <a:rPr/>
              <a:t> : Concevoir le module de </a:t>
            </a:r>
            <a:r>
              <a:rPr b="1"/>
              <a:t>segmentation sémantique</a:t>
            </a:r>
            <a:r>
              <a:rPr/>
              <a:t> pour identifier les obstacles et surfaces de roulage.</a:t>
            </a:r>
          </a:p>
          <a:p>
            <a:pPr lvl="0"/>
            <a:r>
              <a:rPr b="1"/>
              <a:t>L’Intégration</a:t>
            </a:r>
            <a:r>
              <a:rPr/>
              <a:t> : Le module doit s’insérer de façon transparente dans l’ordinateur de bord embarqué (système temps-réel à ressources limitées).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 Problématique &amp; Cahier des Charges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Les Besoins du Métier (Laura &amp; Franck)</a:t>
            </a:r>
            <a:r>
              <a:rPr/>
              <a:t> :</a:t>
            </a:r>
          </a:p>
          <a:p>
            <a:pPr lvl="1"/>
            <a:r>
              <a:rPr/>
              <a:t>Fournir un modèle avec une précision de détourage élevée pour les objets routiers critiques.</a:t>
            </a:r>
          </a:p>
          <a:p>
            <a:pPr lvl="1"/>
            <a:r>
              <a:rPr/>
              <a:t>Fusionner la granularité des annotations du dataset pour optimiser la prise de décision.</a:t>
            </a:r>
          </a:p>
          <a:p>
            <a:pPr lvl="1"/>
            <a:r>
              <a:rPr/>
              <a:t>Développer une </a:t>
            </a:r>
            <a:r>
              <a:rPr b="1"/>
              <a:t>API REST</a:t>
            </a:r>
            <a:r>
              <a:rPr/>
              <a:t> robuste pour exposer le modèle entraîné.</a:t>
            </a:r>
          </a:p>
          <a:p>
            <a:pPr lvl="1"/>
            <a:r>
              <a:rPr/>
              <a:t>Créer une </a:t>
            </a:r>
            <a:r>
              <a:rPr b="1"/>
              <a:t>application Web interactive</a:t>
            </a:r>
            <a:r>
              <a:rPr/>
              <a:t> de test et de démonstration pour les équipes internes.</a:t>
            </a:r>
          </a:p>
          <a:p>
            <a:pPr lvl="1"/>
            <a:r>
              <a:rPr/>
              <a:t>Garantir le caractère industrialisable et automatisé de la solution (MLOps / CI/CD).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 Le Jeu de Données : Cityscapes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Caractéristiques du Dataset</a:t>
            </a:r>
            <a:r>
              <a:rPr/>
              <a:t> :</a:t>
            </a:r>
          </a:p>
          <a:p>
            <a:pPr lvl="1"/>
            <a:r>
              <a:rPr/>
              <a:t>Images de caméras embarquées prises dans 50 villes d’Allemagne et des pays limitrophes.</a:t>
            </a:r>
          </a:p>
          <a:p>
            <a:pPr lvl="1"/>
            <a:r>
              <a:rPr/>
              <a:t>Résolution d’origine élevée : </a:t>
            </a:r>
            <a:r>
              <a:rPr b="1"/>
              <a:t>1024 × 2048 pixels</a:t>
            </a:r>
            <a:r>
              <a:rPr/>
              <a:t>.</a:t>
            </a:r>
          </a:p>
          <a:p>
            <a:pPr lvl="1"/>
            <a:r>
              <a:rPr/>
              <a:t>Annotations pixel-level de haute qualité (Ground Truth).</a:t>
            </a:r>
          </a:p>
          <a:p>
            <a:pPr lvl="0"/>
            <a:r>
              <a:rPr b="1"/>
              <a:t>Le Défi de la Granularité</a:t>
            </a:r>
            <a:r>
              <a:rPr/>
              <a:t> :</a:t>
            </a:r>
          </a:p>
          <a:p>
            <a:pPr lvl="1"/>
            <a:r>
              <a:rPr/>
              <a:t>32 sous-catégories d’origine (ex: clôture, trottoir, poteau, motard, train, etc.).</a:t>
            </a:r>
          </a:p>
          <a:p>
            <a:pPr lvl="1"/>
            <a:r>
              <a:rPr/>
              <a:t>Trop complexe et gourmand en calcul pour un modèle de segmentation embarqué en première version.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 Regroupement en 8 Classes Essentielles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La Solution</a:t>
            </a:r>
            <a:r>
              <a:rPr/>
              <a:t> : Simplifier le problème en mappant les 32 sous-catégories vers </a:t>
            </a:r>
            <a:r>
              <a:rPr b="1"/>
              <a:t>8 catégories principales</a:t>
            </a:r>
            <a:r>
              <a:rPr/>
              <a:t> définies par l’équipe d’acquisition :</a:t>
            </a:r>
          </a:p>
          <a:p>
            <a:pPr lvl="1" indent="-342900" marL="685800">
              <a:buAutoNum type="arabicPeriod"/>
            </a:pPr>
            <a:r>
              <a:rPr b="1"/>
              <a:t>Void</a:t>
            </a:r>
            <a:r>
              <a:rPr/>
              <a:t> : Zones non identifiées, capot du véhicule, bordures dynamiques.</a:t>
            </a:r>
          </a:p>
          <a:p>
            <a:pPr lvl="1" indent="-342900" marL="685800">
              <a:buAutoNum type="arabicPeriod"/>
            </a:pPr>
            <a:r>
              <a:rPr b="1"/>
              <a:t>Flat</a:t>
            </a:r>
            <a:r>
              <a:rPr/>
              <a:t> : Route, trottoir, parking, rails.</a:t>
            </a:r>
          </a:p>
          <a:p>
            <a:pPr lvl="1" indent="-342900" marL="685800">
              <a:buAutoNum type="arabicPeriod"/>
            </a:pPr>
            <a:r>
              <a:rPr b="1"/>
              <a:t>Construction</a:t>
            </a:r>
            <a:r>
              <a:rPr/>
              <a:t> : Bâtiments, murs, barrières, ponts, tunnels.</a:t>
            </a:r>
          </a:p>
          <a:p>
            <a:pPr lvl="1" indent="-342900" marL="685800">
              <a:buAutoNum type="arabicPeriod"/>
            </a:pPr>
            <a:r>
              <a:rPr b="1"/>
              <a:t>Object</a:t>
            </a:r>
            <a:r>
              <a:rPr/>
              <a:t> : Poteaux, feux de signalisation, panneaux.</a:t>
            </a:r>
          </a:p>
          <a:p>
            <a:pPr lvl="1" indent="-342900" marL="685800">
              <a:buAutoNum type="arabicPeriod"/>
            </a:pPr>
            <a:r>
              <a:rPr b="1"/>
              <a:t>Nature</a:t>
            </a:r>
            <a:r>
              <a:rPr/>
              <a:t> : Végétation, terrain naturel.</a:t>
            </a:r>
          </a:p>
          <a:p>
            <a:pPr lvl="1" indent="-342900" marL="685800">
              <a:buAutoNum type="arabicPeriod"/>
            </a:pPr>
            <a:r>
              <a:rPr b="1"/>
              <a:t>Sky</a:t>
            </a:r>
            <a:r>
              <a:rPr/>
              <a:t> : Ciel.</a:t>
            </a:r>
          </a:p>
          <a:p>
            <a:pPr lvl="1" indent="-342900" marL="685800">
              <a:buAutoNum type="arabicPeriod"/>
            </a:pPr>
            <a:r>
              <a:rPr b="1"/>
              <a:t>Human</a:t>
            </a:r>
            <a:r>
              <a:rPr/>
              <a:t> : Piétons, cyclistes, motards.</a:t>
            </a:r>
          </a:p>
          <a:p>
            <a:pPr lvl="1" indent="-342900" marL="685800">
              <a:buAutoNum type="arabicPeriod"/>
            </a:pPr>
            <a:r>
              <a:rPr b="1"/>
              <a:t>Vehicle</a:t>
            </a:r>
            <a:r>
              <a:rPr/>
              <a:t> : Voitures, camions, bus, motos, vélos.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 Analyse Exploratoire des Données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Observations Clés de l’EDA</a:t>
            </a:r>
            <a:r>
              <a:rPr/>
              <a:t> :</a:t>
            </a:r>
          </a:p>
          <a:p>
            <a:pPr lvl="1"/>
            <a:r>
              <a:rPr/>
              <a:t>Forte prédominance des classes de fond : la route (</a:t>
            </a:r>
            <a:r>
              <a:rPr b="1"/>
              <a:t>flat</a:t>
            </a:r>
            <a:r>
              <a:rPr/>
              <a:t>) et les bâtiments (</a:t>
            </a:r>
            <a:r>
              <a:rPr b="1"/>
              <a:t>construction</a:t>
            </a:r>
            <a:r>
              <a:rPr/>
              <a:t>) occupent plus de 60 % des pixels d’une image moyenne.</a:t>
            </a:r>
          </a:p>
          <a:p>
            <a:pPr lvl="1"/>
            <a:r>
              <a:rPr/>
              <a:t>Classes critiques très rares : les piétons/motards (</a:t>
            </a:r>
            <a:r>
              <a:rPr b="1"/>
              <a:t>human</a:t>
            </a:r>
            <a:r>
              <a:rPr/>
              <a:t>) représentent moins de 2 % des pixels.</a:t>
            </a:r>
          </a:p>
          <a:p>
            <a:pPr lvl="0"/>
            <a:r>
              <a:rPr b="1"/>
              <a:t>Conséquences Techniques</a:t>
            </a:r>
            <a:r>
              <a:rPr/>
              <a:t> :</a:t>
            </a:r>
          </a:p>
          <a:p>
            <a:pPr lvl="1"/>
            <a:r>
              <a:rPr/>
              <a:t>Fort déséquilibre des classes (</a:t>
            </a:r>
            <a:r>
              <a:rPr i="1"/>
              <a:t>class imbalance</a:t>
            </a:r>
            <a:r>
              <a:rPr/>
              <a:t>).</a:t>
            </a:r>
          </a:p>
          <a:p>
            <a:pPr lvl="1"/>
            <a:r>
              <a:rPr/>
              <a:t>Risque majeur de surapprentissage sur les classes majoritaires et d’ignorance des obstacles minoritaires (piétons, panneaux).</a:t>
            </a:r>
          </a:p>
          <a:p>
            <a:pPr lvl="1"/>
            <a:r>
              <a:rPr/>
              <a:t>Nécessité d’utiliser des métriques et des fonctions de perte adaptées.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 Métrique Clé de Performance : Le Mean IoU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Pourquoi l’Accuracy classique est trompeuse ?</a:t>
                </a:r>
              </a:p>
              <a:p>
                <a:pPr lvl="1"/>
                <a:r>
                  <a:rPr/>
                  <a:t>Un modèle prédisant “Route” et “Bâtiment” partout obtiendrait 80 % d’Accuracy tout en écrasant les piétons, ce qui est inacceptable pour un véhicule autonome.</a:t>
                </a:r>
              </a:p>
              <a:p>
                <a:pPr lvl="0"/>
                <a:r>
                  <a:rPr b="1"/>
                  <a:t>La Métrique Standard : L’Intersection over Union (IoU)</a:t>
                </a:r>
                <a:r>
                  <a:rPr/>
                  <a:t> :</a:t>
                </a:r>
              </a:p>
              <a:p>
                <a:pPr lvl="1"/>
                <a14:m>
                  <m:oMath xmlns:m="http://schemas.openxmlformats.org/officeDocument/2006/math">
                    <m:r>
                      <m:t>I</m:t>
                    </m:r>
                    <m:r>
                      <m:t>o</m:t>
                    </m:r>
                    <m:r>
                      <m:t>U</m:t>
                    </m:r>
                    <m:r>
                      <m:rPr>
                        <m:sty m:val="p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m:t>A</m:t>
                        </m:r>
                        <m:r>
                          <m:t>r</m:t>
                        </m:r>
                        <m:r>
                          <m:t>e</m:t>
                        </m:r>
                        <m:r>
                          <m:t>a</m:t>
                        </m:r>
                        <m:r>
                          <m:t> </m:t>
                        </m:r>
                        <m:r>
                          <m:t>o</m:t>
                        </m:r>
                        <m:r>
                          <m:t>f</m:t>
                        </m:r>
                        <m:r>
                          <m:t> </m:t>
                        </m:r>
                        <m:r>
                          <m:t>O</m:t>
                        </m:r>
                        <m:r>
                          <m:t>v</m:t>
                        </m:r>
                        <m:r>
                          <m:t>e</m:t>
                        </m:r>
                        <m:r>
                          <m:t>r</m:t>
                        </m:r>
                        <m:r>
                          <m:t>l</m:t>
                        </m:r>
                        <m:r>
                          <m:t>a</m:t>
                        </m:r>
                        <m:r>
                          <m:t>p</m:t>
                        </m:r>
                      </m:num>
                      <m:den>
                        <m:r>
                          <m:t>A</m:t>
                        </m:r>
                        <m:r>
                          <m:t>r</m:t>
                        </m:r>
                        <m:r>
                          <m:t>e</m:t>
                        </m:r>
                        <m:r>
                          <m:t>a</m:t>
                        </m:r>
                        <m:r>
                          <m:t> </m:t>
                        </m:r>
                        <m:r>
                          <m:t>o</m:t>
                        </m:r>
                        <m:r>
                          <m:t>f</m:t>
                        </m:r>
                        <m:r>
                          <m:t> </m:t>
                        </m:r>
                        <m:r>
                          <m:t>U</m:t>
                        </m:r>
                        <m:r>
                          <m:t>n</m:t>
                        </m:r>
                        <m:r>
                          <m:t>i</m:t>
                        </m:r>
                        <m:r>
                          <m:t>o</m:t>
                        </m:r>
                        <m:r>
                          <m:t>n</m:t>
                        </m:r>
                      </m:den>
                    </m:f>
                    <m:r>
                      <m:rPr>
                        <m:sty m:val="p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m:t>T</m:t>
                        </m:r>
                        <m:r>
                          <m:t>P</m:t>
                        </m:r>
                      </m:num>
                      <m:den>
                        <m:r>
                          <m:t>T</m:t>
                        </m:r>
                        <m:r>
                          <m:t>P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F</m:t>
                        </m:r>
                        <m:r>
                          <m:t>P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F</m:t>
                        </m:r>
                        <m:r>
                          <m:t>N</m:t>
                        </m:r>
                      </m:den>
                    </m:f>
                  </m:oMath>
                </a14:m>
              </a:p>
              <a:p>
                <a:pPr lvl="0"/>
                <a:r>
                  <a:rPr b="1"/>
                  <a:t>Le Mean IoU (mIoU)</a:t>
                </a:r>
                <a:r>
                  <a:rPr/>
                  <a:t> :</a:t>
                </a:r>
              </a:p>
              <a:p>
                <a:pPr lvl="1"/>
                <a:r>
                  <a:rPr/>
                  <a:t>Moyenne des IoU calculés indépendamment pour chacune des 8 classes.</a:t>
                </a:r>
              </a:p>
              <a:p>
                <a:pPr lvl="1"/>
                <a:r>
                  <a:rPr/>
                  <a:t>Évalue équitablement la performance du modèle sur les objets rares (comme les piétons) et fréquents.</a:t>
                </a:r>
              </a:p>
            </p:txBody>
          </p:sp>
        </mc:Choice>
      </mc:AlternateContent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 Prévention du Surapprentissage : La Data Augmentation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Le Risque</a:t>
            </a:r>
            <a:r>
              <a:rPr/>
              <a:t> : Le surapprentissage (overfitting) sur les scènes routières spécifiques du dataset d’entraînement.</a:t>
            </a:r>
          </a:p>
          <a:p>
            <a:pPr lvl="0"/>
            <a:r>
              <a:rPr b="1"/>
              <a:t>Notre Approche</a:t>
            </a:r>
            <a:r>
              <a:rPr/>
              <a:t> : L’augmentation de données géométriques et photométriques à la volée (</a:t>
            </a:r>
            <a:r>
              <a:rPr i="1"/>
              <a:t>on-the-fly</a:t>
            </a:r>
            <a:r>
              <a:rPr/>
              <a:t>).</a:t>
            </a:r>
          </a:p>
          <a:p>
            <a:pPr lvl="0"/>
            <a:r>
              <a:rPr b="1"/>
              <a:t>Le Défi en Segmentation</a:t>
            </a:r>
            <a:r>
              <a:rPr/>
              <a:t> :</a:t>
            </a:r>
          </a:p>
          <a:p>
            <a:pPr lvl="1"/>
            <a:r>
              <a:rPr/>
              <a:t>Contrairement à la classification classique, toute transformation géométrique appliquée à l’image d’entrée (rotation, symétrie) doit être appliquée </a:t>
            </a:r>
            <a:r>
              <a:rPr b="1"/>
              <a:t>strictement à l’identique</a:t>
            </a:r>
            <a:r>
              <a:rPr/>
              <a:t> sur le masque d’annotation (Ground Truth).</a:t>
            </a:r>
          </a:p>
          <a:p>
            <a:pPr lvl="1"/>
            <a:r>
              <a:rPr/>
              <a:t>Utilisation de la bibliothèque spécialisée </a:t>
            </a:r>
            <a:r>
              <a:rPr>
                <a:latin typeface="Courier"/>
              </a:rPr>
              <a:t>albumentations</a:t>
            </a:r>
            <a:r>
              <a:rPr/>
              <a:t>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 Détails des Transformations Appliquées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Transformations Géométriques</a:t>
            </a:r>
            <a:r>
              <a:rPr/>
              <a:t> :</a:t>
            </a:r>
          </a:p>
          <a:p>
            <a:pPr lvl="1"/>
            <a:r>
              <a:rPr b="1"/>
              <a:t>Flip Horizontal</a:t>
            </a:r>
            <a:r>
              <a:rPr/>
              <a:t> : Simulation d’inversion du sens de circulation ou de la configuration de la rue.</a:t>
            </a:r>
          </a:p>
          <a:p>
            <a:pPr lvl="1"/>
            <a:r>
              <a:rPr b="1"/>
              <a:t>Rotations légères</a:t>
            </a:r>
            <a:r>
              <a:rPr/>
              <a:t> : Simulation d’inclinaisons du véhicule dues aux bosses ou pentes.</a:t>
            </a:r>
          </a:p>
          <a:p>
            <a:pPr lvl="0"/>
            <a:r>
              <a:rPr b="1"/>
              <a:t>Transformations Photométriques</a:t>
            </a:r>
            <a:r>
              <a:rPr/>
              <a:t> :</a:t>
            </a:r>
          </a:p>
          <a:p>
            <a:pPr lvl="1"/>
            <a:r>
              <a:rPr b="1"/>
              <a:t>Ajustement de Contraste et Luminosité</a:t>
            </a:r>
            <a:r>
              <a:rPr/>
              <a:t> : Simulation de différentes conditions d’éclairage et métrologiques (soleil, nuages, ombres).</a:t>
            </a:r>
          </a:p>
          <a:p>
            <a:pPr lvl="0"/>
            <a:r>
              <a:rPr b="1"/>
              <a:t>Optimisation</a:t>
            </a:r>
            <a:r>
              <a:rPr/>
              <a:t> : Générateur de données Python pour éviter de saturer le disque en créant des images physiques supplémentaires.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9. Algorithmes : L’Architecture U-Net (Théorie)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Pourquoi le U-Net ?</a:t>
            </a:r>
          </a:p>
          <a:p>
            <a:pPr lvl="1"/>
            <a:r>
              <a:rPr/>
              <a:t>Architecture standard de l’industrie pour la segmentation d’images.</a:t>
            </a:r>
          </a:p>
          <a:p>
            <a:pPr lvl="1"/>
            <a:r>
              <a:rPr/>
              <a:t>Composé de deux parties symétriques formant un “U” :</a:t>
            </a:r>
          </a:p>
          <a:p>
            <a:pPr lvl="2" indent="-342900" marL="1028700">
              <a:buAutoNum type="arabicPeriod"/>
            </a:pPr>
            <a:r>
              <a:rPr b="1"/>
              <a:t>L’Encodeur (Contraction)</a:t>
            </a:r>
            <a:r>
              <a:rPr/>
              <a:t> : Réseau de neurones convolutifs classique (CNN) qui extrait les caractéristiques sémantiques abstraites en réduisant la taille spatiale.</a:t>
            </a:r>
          </a:p>
          <a:p>
            <a:pPr lvl="2" indent="-342900" marL="1028700">
              <a:buAutoNum type="arabicPeriod"/>
            </a:pPr>
            <a:r>
              <a:rPr b="1"/>
              <a:t>Le Décodeur (Expansion)</a:t>
            </a:r>
            <a:r>
              <a:rPr/>
              <a:t> : Couches de suréchantillonnage (UpSampling) qui reconstruisent la résolution spatiale d’origine.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10. Le Rôle des Skip Connections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Le Problème de la compression</a:t>
            </a:r>
            <a:r>
              <a:rPr/>
              <a:t> :</a:t>
            </a:r>
          </a:p>
          <a:p>
            <a:pPr lvl="1"/>
            <a:r>
              <a:rPr/>
              <a:t>En traversant l’encodeur, l’image perd sa résolution spatiale fine. Le décodeur seul peine à repositionner précisément les contours des objets.</a:t>
            </a:r>
          </a:p>
          <a:p>
            <a:pPr lvl="0"/>
            <a:r>
              <a:rPr b="1"/>
              <a:t>La Solution : Skip Connections</a:t>
            </a:r>
            <a:r>
              <a:rPr/>
              <a:t> :</a:t>
            </a:r>
          </a:p>
          <a:p>
            <a:pPr lvl="1"/>
            <a:r>
              <a:rPr/>
              <a:t>Raccourcis qui copient les cartes de caractéristiques haute résolution de l’encodeur et les concatènent directement avec les couches correspondantes du décodeur.</a:t>
            </a:r>
          </a:p>
          <a:p>
            <a:pPr lvl="1"/>
            <a:r>
              <a:rPr/>
              <a:t>Permettent au modèle de conserver les détails géométriques fins et d’obtenir des contours nets (par exemple pour distinguer les piétons).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11. Pipeline de Données : Le Data Generator Keras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La Contrainte RAM</a:t>
            </a:r>
            <a:r>
              <a:rPr/>
              <a:t> :</a:t>
            </a:r>
          </a:p>
          <a:p>
            <a:pPr lvl="1"/>
            <a:r>
              <a:rPr/>
              <a:t>Charger l’intégralité du dataset Cityscapes en pleine mémoire est impossible sur des machines standards.</a:t>
            </a:r>
          </a:p>
          <a:p>
            <a:pPr lvl="0"/>
            <a:r>
              <a:rPr b="1"/>
              <a:t>La Solution : </a:t>
            </a:r>
            <a:r>
              <a:rPr b="1">
                <a:latin typeface="Courier"/>
              </a:rPr>
              <a:t>tf.keras.utils.Sequence</a:t>
            </a:r>
            <a:r>
              <a:rPr/>
              <a:t> :</a:t>
            </a:r>
          </a:p>
          <a:p>
            <a:pPr lvl="1"/>
            <a:r>
              <a:rPr/>
              <a:t>Écriture d’un générateur de données personnalisé.</a:t>
            </a:r>
          </a:p>
          <a:p>
            <a:pPr lvl="1"/>
            <a:r>
              <a:rPr b="1"/>
              <a:t>Actions par batch à la volée</a:t>
            </a:r>
            <a:r>
              <a:rPr/>
              <a:t> :</a:t>
            </a:r>
          </a:p>
          <a:p>
            <a:pPr lvl="2" indent="-342900" marL="1028700">
              <a:buAutoNum type="arabicPeriod"/>
            </a:pPr>
            <a:r>
              <a:rPr/>
              <a:t>Chargement asynchrone d’un groupe d’images de taille réduite (256 × 512 pixels).</a:t>
            </a:r>
          </a:p>
          <a:p>
            <a:pPr lvl="2" indent="-342900" marL="1028700">
              <a:buAutoNum type="arabicPeriod"/>
            </a:pPr>
            <a:r>
              <a:rPr/>
              <a:t>Encodage vectoriel du mapping des classes (32 vers 8 catégories).</a:t>
            </a:r>
          </a:p>
          <a:p>
            <a:pPr lvl="2" indent="-342900" marL="1028700">
              <a:buAutoNum type="arabicPeriod"/>
            </a:pPr>
            <a:r>
              <a:rPr/>
              <a:t>Application des augmentations </a:t>
            </a:r>
            <a:r>
              <a:rPr>
                <a:latin typeface="Courier"/>
              </a:rPr>
              <a:t>albumentations</a:t>
            </a:r>
            <a:r>
              <a:rPr/>
              <a:t>.</a:t>
            </a:r>
          </a:p>
          <a:p>
            <a:pPr lvl="2" indent="-342900" marL="1028700">
              <a:buAutoNum type="arabicPeriod"/>
            </a:pPr>
            <a:r>
              <a:rPr/>
              <a:t>Encodage One-Hot des masques cibles.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12. Les Fonctions de Perte (Loss Functions)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Categorical Cross-Entropy (CCE)</a:t>
            </a:r>
            <a:r>
              <a:rPr/>
              <a:t> :</a:t>
            </a:r>
          </a:p>
          <a:p>
            <a:pPr lvl="1"/>
            <a:r>
              <a:rPr/>
              <a:t>Loss standard pour la classification multi-classe.</a:t>
            </a:r>
          </a:p>
          <a:p>
            <a:pPr lvl="1"/>
            <a:r>
              <a:rPr i="1"/>
              <a:t>Limite</a:t>
            </a:r>
            <a:r>
              <a:rPr/>
              <a:t> : Pénalise peu l’erreur sur les petites classes (humains) par rapport aux grandes classes (ciel, route).</a:t>
            </a:r>
          </a:p>
          <a:p>
            <a:pPr lvl="0"/>
            <a:r>
              <a:rPr b="1"/>
              <a:t>Dice Loss</a:t>
            </a:r>
            <a:r>
              <a:rPr/>
              <a:t> :</a:t>
            </a:r>
          </a:p>
          <a:p>
            <a:pPr lvl="1"/>
            <a:r>
              <a:rPr/>
              <a:t>Basée sur le coefficient de Dice (proche du mIoU).</a:t>
            </a:r>
          </a:p>
          <a:p>
            <a:pPr lvl="1"/>
            <a:r>
              <a:rPr/>
              <a:t>Optimise directement le taux de recouvrement des masques.</a:t>
            </a:r>
          </a:p>
          <a:p>
            <a:pPr lvl="0"/>
            <a:r>
              <a:rPr b="1"/>
              <a:t>Notre Choix</a:t>
            </a:r>
            <a:r>
              <a:rPr/>
              <a:t> :</a:t>
            </a:r>
          </a:p>
          <a:p>
            <a:pPr lvl="1"/>
            <a:r>
              <a:rPr/>
              <a:t>Utilisation d’un taux d’apprentissage adapté et d’une CCE avec pondération de classes pour redonner du poids aux classes minoritaires (piétons, panneaux) lors de la rétropropagation.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13. Première Modélisation : U-Net classique “from scratch”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Conception de notre Baseline</a:t>
            </a:r>
            <a:r>
              <a:rPr/>
              <a:t> :</a:t>
            </a:r>
          </a:p>
          <a:p>
            <a:pPr lvl="1"/>
            <a:r>
              <a:rPr/>
              <a:t>Encodeur composé de 4 blocs successifs de Convolutions 2D, Batch Normalization et Max Pooling.</a:t>
            </a:r>
          </a:p>
          <a:p>
            <a:pPr lvl="1"/>
            <a:r>
              <a:rPr/>
              <a:t>Bottleneck central.</a:t>
            </a:r>
          </a:p>
          <a:p>
            <a:pPr lvl="1"/>
            <a:r>
              <a:rPr/>
              <a:t>Décodeur composé de 4 blocs d’UpSampling 2D, concaténation (Skip Connections) et Convolutions.</a:t>
            </a:r>
          </a:p>
          <a:p>
            <a:pPr lvl="1"/>
            <a:r>
              <a:rPr/>
              <a:t>Couche finale d’activation </a:t>
            </a:r>
            <a:r>
              <a:rPr>
                <a:latin typeface="Courier"/>
              </a:rPr>
              <a:t>softmax</a:t>
            </a:r>
            <a:r>
              <a:rPr/>
              <a:t> à 8 canaux.</a:t>
            </a:r>
          </a:p>
          <a:p>
            <a:pPr lvl="0"/>
            <a:r>
              <a:rPr b="1"/>
              <a:t>Paramètres</a:t>
            </a:r>
            <a:r>
              <a:rPr/>
              <a:t> :</a:t>
            </a:r>
          </a:p>
          <a:p>
            <a:pPr lvl="1"/>
            <a:r>
              <a:rPr/>
              <a:t>Environ 2 millions de paramètres entraînés à partir de zéro (poids aléatoires).</a:t>
            </a:r>
          </a:p>
          <a:p>
            <a:pPr lvl="1"/>
            <a:r>
              <a:rPr/>
              <a:t>Optimiseur Adam (learning rate = 1e-4).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14. Analyse &amp; Limites de la Baseline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Observations à l’entraînement</a:t>
            </a:r>
            <a:r>
              <a:rPr/>
              <a:t> :</a:t>
            </a:r>
          </a:p>
          <a:p>
            <a:pPr lvl="1"/>
            <a:r>
              <a:rPr/>
              <a:t>Convergence lente : le modèle doit tout apprendre, des formes géométriques de base (lignes, textures) aux objets complexes.</a:t>
            </a:r>
          </a:p>
          <a:p>
            <a:pPr lvl="1"/>
            <a:r>
              <a:rPr/>
              <a:t>Très lourd en calculs.</a:t>
            </a:r>
          </a:p>
          <a:p>
            <a:pPr lvl="0"/>
            <a:r>
              <a:rPr b="1"/>
              <a:t>Résultats visuels</a:t>
            </a:r>
            <a:r>
              <a:rPr/>
              <a:t> :</a:t>
            </a:r>
          </a:p>
          <a:p>
            <a:pPr lvl="1"/>
            <a:r>
              <a:rPr/>
              <a:t>Le modèle segmente correctement la route et le ciel.</a:t>
            </a:r>
          </a:p>
          <a:p>
            <a:pPr lvl="1"/>
            <a:r>
              <a:rPr/>
              <a:t>En revanche, il échoue sur les détails fins : les poteaux sont coupés, les piétons sont flous ou fusionnés avec le fond.</a:t>
            </a:r>
          </a:p>
          <a:p>
            <a:pPr lvl="1"/>
            <a:r>
              <a:rPr/>
              <a:t>Risque élevé de collision dans un cadre de conduite réelle.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15. Seconde Modélisation : Le Transfer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Pourquoi le Transfer Learning ?</a:t>
            </a:r>
          </a:p>
          <a:p>
            <a:pPr lvl="1"/>
            <a:r>
              <a:rPr/>
              <a:t>Réutiliser l’intelligence déjà acquise par un réseau de neurones pré-entraîné sur un dataset massif (ImageNet).</a:t>
            </a:r>
          </a:p>
          <a:p>
            <a:pPr lvl="1"/>
            <a:r>
              <a:rPr/>
              <a:t>Évite de réentraîner l’encodeur sur les filtres de base (formes, contrastes, coins).</a:t>
            </a:r>
          </a:p>
          <a:p>
            <a:pPr lvl="0"/>
            <a:r>
              <a:rPr b="1"/>
              <a:t>Le Choix du Backbone : MobileNetV2</a:t>
            </a:r>
            <a:r>
              <a:rPr/>
              <a:t> :</a:t>
            </a:r>
          </a:p>
          <a:p>
            <a:pPr lvl="1"/>
            <a:r>
              <a:rPr/>
              <a:t>Conçu spécifiquement pour les systèmes embarqués et mobiles.</a:t>
            </a:r>
          </a:p>
          <a:p>
            <a:pPr lvl="1"/>
            <a:r>
              <a:rPr/>
              <a:t>Utilise les convolutions séparables en profondeur (</a:t>
            </a:r>
            <a:r>
              <a:rPr i="1"/>
              <a:t>Depthwise Separable Convolutions</a:t>
            </a:r>
            <a:r>
              <a:rPr/>
              <a:t>) pour diviser par 9 le coût de calcul mathématique par rapport à une convolution standard.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16. Intégration de MobileNetV2 dans U-Net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Notre Architecture Hybride</a:t>
            </a:r>
            <a:r>
              <a:rPr/>
              <a:t> :</a:t>
            </a:r>
          </a:p>
          <a:p>
            <a:pPr lvl="1"/>
            <a:r>
              <a:rPr/>
              <a:t>L’encodeur d’origine est remplacé par le tronc commun de </a:t>
            </a:r>
            <a:r>
              <a:rPr b="1"/>
              <a:t>MobileNetV2</a:t>
            </a:r>
            <a:r>
              <a:rPr/>
              <a:t> pré-entraîné.</a:t>
            </a:r>
          </a:p>
          <a:p>
            <a:pPr lvl="1"/>
            <a:r>
              <a:rPr/>
              <a:t>Les couches intermédiaires du backbone MobileNetV2 (ex: </a:t>
            </a:r>
            <a:r>
              <a:rPr>
                <a:latin typeface="Courier"/>
              </a:rPr>
              <a:t>block_1_expand_relu</a:t>
            </a:r>
            <a:r>
              <a:rPr/>
              <a:t>, </a:t>
            </a:r>
            <a:r>
              <a:rPr>
                <a:latin typeface="Courier"/>
              </a:rPr>
              <a:t>block_3_expand_relu</a:t>
            </a:r>
            <a:r>
              <a:rPr/>
              <a:t>, </a:t>
            </a:r>
            <a:r>
              <a:rPr>
                <a:latin typeface="Courier"/>
              </a:rPr>
              <a:t>block_6_expand_relu</a:t>
            </a:r>
            <a:r>
              <a:rPr/>
              <a:t>) sont extraites pour servir de points d’ancrage aux </a:t>
            </a:r>
            <a:r>
              <a:rPr b="1"/>
              <a:t>Skip Connections</a:t>
            </a:r>
            <a:r>
              <a:rPr/>
              <a:t>.</a:t>
            </a:r>
          </a:p>
          <a:p>
            <a:pPr lvl="1"/>
            <a:r>
              <a:rPr/>
              <a:t>Le décodeur U-Net est connecté à ces couches pour reconstruire l’image.</a:t>
            </a:r>
          </a:p>
          <a:p>
            <a:pPr lvl="1"/>
            <a:r>
              <a:rPr/>
              <a:t>Les poids du backbone sont gelés au début pour stabiliser l’apprentissage du décodeur, puis dégelés partiellement pour un fine-tuning.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17. Comparaison Quantitative des Modèles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Les métriques clés récoltées sur le jeu de test 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0500"/>
                <a:gridCol w="1828800"/>
                <a:gridCol w="1828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Métrique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U-Net Baseline (from scratch)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U-Net + MobileNetV2 (Transfer Learning)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Vitesse de convergence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Lente (40+ époques)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Très rapide (15 époques)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Poids du modèle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~35 Mo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 b="1"/>
                        <a:t>~12 Mo</a:t>
                      </a:r>
                      <a:r>
                        <a:rPr/>
                        <a:t> (Plus léger !)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mIoU (Validation)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~0.42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 b="1"/>
                        <a:t>~0.68</a:t>
                      </a:r>
                      <a:r>
                        <a:rPr/>
                        <a:t> (Amélioration majeure)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Temps d’inférence (CPU)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~120 ms / image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 b="1"/>
                        <a:t>~35 ms / image</a:t>
                      </a:r>
                      <a:r>
                        <a:rPr/>
                        <a:t> (3x plus rapide)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Adapté à l’embarqué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Non (Trop lent/lourd)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 b="1"/>
                        <a:t>Oui (Temps-réel possible)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18. Comparaison Qualitative de la Segmentation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U-Net Custom</a:t>
            </a:r>
            <a:r>
              <a:rPr/>
              <a:t> :</a:t>
            </a:r>
          </a:p>
          <a:p>
            <a:pPr lvl="1"/>
            <a:r>
              <a:rPr/>
              <a:t>Bords très bruités, instables.</a:t>
            </a:r>
          </a:p>
          <a:p>
            <a:pPr lvl="1"/>
            <a:r>
              <a:rPr/>
              <a:t>Piétons souvent absents du masque de prédiction.</a:t>
            </a:r>
          </a:p>
          <a:p>
            <a:pPr lvl="0"/>
            <a:r>
              <a:rPr b="1"/>
              <a:t>U-Net + MobileNetV2</a:t>
            </a:r>
            <a:r>
              <a:rPr/>
              <a:t> :</a:t>
            </a:r>
          </a:p>
          <a:p>
            <a:pPr lvl="1"/>
            <a:r>
              <a:rPr/>
              <a:t>Délinéation nette de la route et du trottoir.</a:t>
            </a:r>
          </a:p>
          <a:p>
            <a:pPr lvl="1"/>
            <a:r>
              <a:rPr/>
              <a:t>Détection stable des véhicules et des piétons même à mi-distance.</a:t>
            </a:r>
          </a:p>
          <a:p>
            <a:pPr lvl="1"/>
            <a:r>
              <a:rPr/>
              <a:t>Rendu spatial cohérent grâce aux poids pré-entraînés qui identifient mieux la sémantique de l’image.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19. Gain Réel de la Data Augmentation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Ablation Study (Avec vs. Sans Data Augmentation)</a:t>
            </a:r>
            <a:r>
              <a:rPr/>
              <a:t> :</a:t>
            </a:r>
          </a:p>
          <a:p>
            <a:pPr lvl="1"/>
            <a:r>
              <a:rPr b="1"/>
              <a:t>Sans augmentation</a:t>
            </a:r>
            <a:r>
              <a:rPr/>
              <a:t> : Le mIoU sur le set d’entraînement grimpe très vite, mais stagne sur le set de test (phénomène d’overfitting). Le modèle échoue sur les scènes avec des éclairages inhabituels.</a:t>
            </a:r>
          </a:p>
          <a:p>
            <a:pPr lvl="1"/>
            <a:r>
              <a:rPr b="1"/>
              <a:t>Avec augmentation (Rotations + Flips + Contraste)</a:t>
            </a:r>
            <a:r>
              <a:rPr/>
              <a:t> : La perte en validation suit de près la perte d’entraînement. Le mIoU sur le set de test gagne +8 points de précision globale.</a:t>
            </a:r>
          </a:p>
          <a:p>
            <a:pPr lvl="1"/>
            <a:r>
              <a:rPr b="1"/>
              <a:t>Conclusion</a:t>
            </a:r>
            <a:r>
              <a:rPr/>
              <a:t> : L’augmentation géométrique et photométrique à la volée est indispensable pour immuniser le modèle contre les variations réelles de l’environnement routier.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20. Architecture MLOps (Vue d’ensemble)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Pour rendre notre modèle exploitable par Laura et les autres équipes, nous avons construit un pipeline industrialisé :</a:t>
            </a:r>
          </a:p>
          <a:p>
            <a:pPr lvl="0" indent="0">
              <a:buNone/>
            </a:pPr>
            <a:r>
              <a:rPr>
                <a:latin typeface="Courier"/>
              </a:rPr>
              <a:t>[ Image Caméra ] 
       │
       ▼
 [ Client Web Streamlit (Port 7860/App) ]
       │  (Requête POST HTTP avec fichier binaire)
       ▼
 [ API REST FastAPI (Port 7860/API) ]
       │  (Prétraitement, Inférence Keras, Colorisation)
       ▼
 [ Retour du Masque de Segmentation (Format PNG) ]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21. L’API REST de Prédiction avec FastAPI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Pourquoi FastAPI ?</a:t>
            </a:r>
          </a:p>
          <a:p>
            <a:pPr lvl="1"/>
            <a:r>
              <a:rPr/>
              <a:t>Ultra-performant, exécution asynchrone native.</a:t>
            </a:r>
          </a:p>
          <a:p>
            <a:pPr lvl="1"/>
            <a:r>
              <a:rPr/>
              <a:t>Documentation Swagger interactive auto-générée au format OpenAPI.</a:t>
            </a:r>
          </a:p>
          <a:p>
            <a:pPr lvl="0"/>
            <a:r>
              <a:rPr b="1"/>
              <a:t>Endpoints Clés Implémentés</a:t>
            </a:r>
            <a:r>
              <a:rPr/>
              <a:t> :</a:t>
            </a:r>
          </a:p>
          <a:p>
            <a:pPr lvl="1"/>
            <a:r>
              <a:rPr>
                <a:latin typeface="Courier"/>
              </a:rPr>
              <a:t>GET /health</a:t>
            </a:r>
            <a:r>
              <a:rPr/>
              <a:t> : Vérification du statut de l’API et du chargement correct du modèle Keras.</a:t>
            </a:r>
          </a:p>
          <a:p>
            <a:pPr lvl="1"/>
            <a:r>
              <a:rPr>
                <a:latin typeface="Courier"/>
              </a:rPr>
              <a:t>POST /segmentation</a:t>
            </a:r>
            <a:r>
              <a:rPr/>
              <a:t> : Réception de l’image brute, exécution de l’inférence via le modèle MobileNetV2 chargé en mémoire au démarrage (lifespan), colorisation et envoi direct du masque sous forme de flux d’image PNG (</a:t>
            </a:r>
            <a:r>
              <a:rPr>
                <a:latin typeface="Courier"/>
              </a:rPr>
              <a:t>StreamingResponse</a:t>
            </a:r>
            <a:r>
              <a:rPr/>
              <a:t>).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22. Conteneurisation de l’API &amp; de l’App (Docker)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Pourquoi Docker ?</a:t>
            </a:r>
          </a:p>
          <a:p>
            <a:pPr lvl="1"/>
            <a:r>
              <a:rPr/>
              <a:t>Résout le problème classique du </a:t>
            </a:r>
            <a:r>
              <a:rPr i="1"/>
              <a:t>“ça marche sur ma machine mais pas en production”</a:t>
            </a:r>
            <a:r>
              <a:rPr/>
              <a:t>.</a:t>
            </a:r>
          </a:p>
          <a:p>
            <a:pPr lvl="1"/>
            <a:r>
              <a:rPr/>
              <a:t>Garantit un environnement d’exécution strictement identique (versions de Python, TensorFlow, Keras, etc.).</a:t>
            </a:r>
          </a:p>
          <a:p>
            <a:pPr lvl="0"/>
            <a:r>
              <a:rPr b="1"/>
              <a:t>Notre Approche</a:t>
            </a:r>
            <a:r>
              <a:rPr/>
              <a:t> :</a:t>
            </a:r>
          </a:p>
          <a:p>
            <a:pPr lvl="1"/>
            <a:r>
              <a:rPr b="1"/>
              <a:t>Dockerfile API</a:t>
            </a:r>
            <a:r>
              <a:rPr/>
              <a:t> : Installe les dépendances système minimales (python-slim), charge les dépendances ML et expose le port pour recevoir les images.</a:t>
            </a:r>
          </a:p>
          <a:p>
            <a:pPr lvl="1"/>
            <a:r>
              <a:rPr b="1"/>
              <a:t>Dockerfile App</a:t>
            </a:r>
            <a:r>
              <a:rPr/>
              <a:t> : Configure l’interface Streamlit et cible l’adresse réseau de l’API.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23. Le Défi des Modèles Volumineux sur le Cloud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La Contrainte de Stockage</a:t>
            </a:r>
            <a:r>
              <a:rPr/>
              <a:t> :</a:t>
            </a:r>
          </a:p>
          <a:p>
            <a:pPr lvl="1"/>
            <a:r>
              <a:rPr/>
              <a:t>Les fichiers de modèles de Deep Learning (formats </a:t>
            </a:r>
            <a:r>
              <a:rPr>
                <a:latin typeface="Courier"/>
              </a:rPr>
              <a:t>.h5</a:t>
            </a:r>
            <a:r>
              <a:rPr/>
              <a:t> ou </a:t>
            </a:r>
            <a:r>
              <a:rPr>
                <a:latin typeface="Courier"/>
              </a:rPr>
              <a:t>.keras</a:t>
            </a:r>
            <a:r>
              <a:rPr/>
              <a:t>) pèsent souvent plusieurs dizaines ou centaines de Mo.</a:t>
            </a:r>
          </a:p>
          <a:p>
            <a:pPr lvl="1"/>
            <a:r>
              <a:rPr b="1"/>
              <a:t>GitHub</a:t>
            </a:r>
            <a:r>
              <a:rPr/>
              <a:t> bloque les fichiers de plus de 100 Mo et limite fortement la bande passante, ce qui pose problème pour le stockage sous Git.</a:t>
            </a:r>
          </a:p>
          <a:p>
            <a:pPr lvl="1"/>
            <a:r>
              <a:rPr/>
              <a:t>Les hébergeurs Cloud gratuits (type Render ou GCP en version gratuite) imposent des limites strictes de stockage ou facturent cher la bande passante.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24. La Solution de CI/CD Hybride via GitHub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Notre Architecture Astucieuse</a:t>
            </a:r>
            <a:r>
              <a:rPr/>
              <a:t> :</a:t>
            </a:r>
          </a:p>
          <a:p>
            <a:pPr lvl="1"/>
            <a:r>
              <a:rPr/>
              <a:t>Le code maître est centralisé sur </a:t>
            </a:r>
            <a:r>
              <a:rPr b="1"/>
              <a:t>GitHub</a:t>
            </a:r>
            <a:r>
              <a:rPr/>
              <a:t>.</a:t>
            </a:r>
          </a:p>
          <a:p>
            <a:pPr lvl="1"/>
            <a:r>
              <a:rPr/>
              <a:t>Un pipeline CI/CD automatisé (</a:t>
            </a:r>
            <a:r>
              <a:rPr>
                <a:latin typeface="Courier"/>
              </a:rPr>
              <a:t>.github/workflows/sync-to-hub.yml</a:t>
            </a:r>
            <a:r>
              <a:rPr/>
              <a:t>) a été écrit.</a:t>
            </a:r>
          </a:p>
          <a:p>
            <a:pPr lvl="1"/>
            <a:r>
              <a:rPr/>
              <a:t>À chaque mise à jour (</a:t>
            </a:r>
            <a:r>
              <a:rPr>
                <a:latin typeface="Courier"/>
              </a:rPr>
              <a:t>git push</a:t>
            </a:r>
            <a:r>
              <a:rPr/>
              <a:t>) sur la branche principale, GitHub Actions lance un script Python utilisant la bibliothèque </a:t>
            </a:r>
            <a:r>
              <a:rPr>
                <a:latin typeface="Courier"/>
              </a:rPr>
              <a:t>huggingface_hub</a:t>
            </a:r>
            <a:r>
              <a:rPr/>
              <a:t>.</a:t>
            </a:r>
          </a:p>
          <a:p>
            <a:pPr lvl="1"/>
            <a:r>
              <a:rPr/>
              <a:t>Ce script pousse programmatiquement le code et le modèle volumineux directement sur </a:t>
            </a:r>
            <a:r>
              <a:rPr b="1"/>
              <a:t>Hugging Face Spaces</a:t>
            </a:r>
            <a:r>
              <a:rPr/>
              <a:t>, contournant les limites strictes de Git classique.</a:t>
            </a:r>
          </a:p>
          <a:p>
            <a:pPr lvl="1"/>
            <a:r>
              <a:rPr/>
              <a:t>Les services redémarrent ensuite automatiquement en production.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25. Le Dashboard Streamlit (Interface de Démo)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Fonctionnalités du Dashboard</a:t>
            </a:r>
            <a:r>
              <a:rPr/>
              <a:t> :</a:t>
            </a:r>
          </a:p>
          <a:p>
            <a:pPr lvl="1"/>
            <a:r>
              <a:rPr/>
              <a:t>Scanne automatiquement le dossier de test pour proposer une liste d’images réelles de caméras embarquées.</a:t>
            </a:r>
          </a:p>
          <a:p>
            <a:pPr lvl="1"/>
            <a:r>
              <a:rPr/>
              <a:t>Propose un menu déroulant latéral interactif pour sélectionner l’image à analyser.</a:t>
            </a:r>
          </a:p>
          <a:p>
            <a:pPr lvl="1"/>
            <a:r>
              <a:rPr/>
              <a:t>Au clic sur le bouton, effectue l’appel HTTP REST vers l’API distante.</a:t>
            </a:r>
          </a:p>
          <a:p>
            <a:pPr lvl="1"/>
            <a:r>
              <a:rPr/>
              <a:t>Affiche côte à côte à l’écran :</a:t>
            </a:r>
          </a:p>
          <a:p>
            <a:pPr lvl="2" indent="-342900" marL="1028700">
              <a:buAutoNum type="arabicPeriod"/>
            </a:pPr>
            <a:r>
              <a:rPr b="1"/>
              <a:t>L’image caméra réelle</a:t>
            </a:r>
            <a:r>
              <a:rPr/>
              <a:t>.</a:t>
            </a:r>
          </a:p>
          <a:p>
            <a:pPr lvl="2" indent="-342900" marL="1028700">
              <a:buAutoNum type="arabicPeriod"/>
            </a:pPr>
            <a:r>
              <a:rPr b="1"/>
              <a:t>Le masque attendu (Ground Truth)</a:t>
            </a:r>
            <a:r>
              <a:rPr/>
              <a:t> si disponible pour comparaison.</a:t>
            </a:r>
          </a:p>
          <a:p>
            <a:pPr lvl="2" indent="-342900" marL="1028700">
              <a:buAutoNum type="arabicPeriod"/>
            </a:pPr>
            <a:r>
              <a:rPr b="1"/>
              <a:t>Le masque prédit par notre IA</a:t>
            </a:r>
            <a:r>
              <a:rPr/>
              <a:t> en temps-réel.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26. Démonstration de l’Application en Action</a:t>
            </a:r>
          </a:p>
        </p:txBody>
      </p:sp>
      <p:pic>
        <p:nvPicPr>
          <p:cNvPr descr="app/Screenshot_streamlit_huggingfac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38300" y="1193800"/>
            <a:ext cx="5854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Notre Application Streamlit en Production sur Hugging Face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27. Liens de la Déploiement en Production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Les services sont hébergés gratuitement et accessibles aux adresses suivantes :</a:t>
            </a:r>
          </a:p>
          <a:p>
            <a:pPr lvl="1"/>
            <a:r>
              <a:rPr b="1"/>
              <a:t>Application Test (Streamlit)</a:t>
            </a:r>
            <a:r>
              <a:rPr/>
              <a:t> : </a:t>
            </a:r>
            <a:r>
              <a:rPr>
                <a:hlinkClick r:id="rId2"/>
              </a:rPr>
              <a:t>https://huggingface.co/spaces/JeanProjets/projet-8-app</a:t>
            </a:r>
          </a:p>
          <a:p>
            <a:pPr lvl="1"/>
            <a:r>
              <a:rPr b="1"/>
              <a:t>API REST (FastAPI)</a:t>
            </a:r>
            <a:r>
              <a:rPr/>
              <a:t> : </a:t>
            </a:r>
            <a:r>
              <a:rPr>
                <a:hlinkClick r:id="rId3"/>
              </a:rPr>
              <a:t>https://huggingface.co/spaces/JeanProjets/projet-8-api</a:t>
            </a:r>
          </a:p>
          <a:p>
            <a:pPr lvl="0"/>
            <a:r>
              <a:rPr i="1"/>
              <a:t>Note de Maintenance</a:t>
            </a:r>
            <a:r>
              <a:rPr/>
              <a:t> : Hugging Face met les applications inactives en veille après 48h. Si le service affiche “Space Asleep”, un simple clic sur le bouton bleu </a:t>
            </a:r>
            <a:r>
              <a:rPr b="1"/>
              <a:t>“Restart this Space”</a:t>
            </a:r>
            <a:r>
              <a:rPr/>
              <a:t> le relance automatiquement en 2 minutes.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28. Conclusion &amp; Bilan du Projet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Objectifs atteints</a:t>
            </a:r>
            <a:r>
              <a:rPr/>
              <a:t> :</a:t>
            </a:r>
          </a:p>
          <a:p>
            <a:pPr lvl="1"/>
            <a:r>
              <a:rPr/>
              <a:t>Modèle de segmentation sémantique performant et optimisé pour le matériel embarqué.</a:t>
            </a:r>
          </a:p>
          <a:p>
            <a:pPr lvl="1"/>
            <a:r>
              <a:rPr/>
              <a:t>Prétraitement et générateur de données asynchrone industrialisés.</a:t>
            </a:r>
          </a:p>
          <a:p>
            <a:pPr lvl="1"/>
            <a:r>
              <a:rPr/>
              <a:t>API FastAPI découplée de l’application Streamlit.</a:t>
            </a:r>
          </a:p>
          <a:p>
            <a:pPr lvl="1"/>
            <a:r>
              <a:rPr/>
              <a:t>Déploiement Cloud opérationnel, gratuit et sécurisé via un pipeline CI/CD moderne (GitHub Actions vers Hugging Face Spaces).</a:t>
            </a:r>
          </a:p>
          <a:p>
            <a:pPr lvl="1"/>
            <a:r>
              <a:rPr/>
              <a:t>Validation complète de la démarche technique et MLOps.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29. Perspectives &amp; Améliorations Futures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Quantification Post-Entraînement</a:t>
            </a:r>
            <a:r>
              <a:rPr/>
              <a:t> :</a:t>
            </a:r>
          </a:p>
          <a:p>
            <a:pPr lvl="1"/>
            <a:r>
              <a:rPr/>
              <a:t>Convertir le modèle Keras en format </a:t>
            </a:r>
            <a:r>
              <a:rPr b="1"/>
              <a:t>TensorFlow Lite (TFLite)</a:t>
            </a:r>
            <a:r>
              <a:rPr/>
              <a:t> ou </a:t>
            </a:r>
            <a:r>
              <a:rPr b="1"/>
              <a:t>ONNX</a:t>
            </a:r>
            <a:r>
              <a:rPr/>
              <a:t> avec quantification en Float16 ou Int8.</a:t>
            </a:r>
          </a:p>
          <a:p>
            <a:pPr lvl="1"/>
            <a:r>
              <a:rPr/>
              <a:t>Permet de diviser par 4 le poids du modèle (passant de 12 Mo à 3 Mo) et d’accélérer l’inférence sur le CPU embarqué.</a:t>
            </a:r>
          </a:p>
          <a:p>
            <a:pPr lvl="0"/>
            <a:r>
              <a:rPr b="1"/>
              <a:t>Lissage Spatial (CRF)</a:t>
            </a:r>
            <a:r>
              <a:rPr/>
              <a:t> :</a:t>
            </a:r>
          </a:p>
          <a:p>
            <a:pPr lvl="1"/>
            <a:r>
              <a:rPr/>
              <a:t>Ajouter un post-traitement de type </a:t>
            </a:r>
            <a:r>
              <a:rPr i="1"/>
              <a:t>Conditional Random Fields</a:t>
            </a:r>
            <a:r>
              <a:rPr/>
              <a:t> pour lisser les contours prédits.</a:t>
            </a:r>
          </a:p>
          <a:p>
            <a:pPr lvl="0"/>
            <a:r>
              <a:rPr b="1"/>
              <a:t>Intégration Finale</a:t>
            </a:r>
            <a:r>
              <a:rPr/>
              <a:t> :</a:t>
            </a:r>
          </a:p>
          <a:p>
            <a:pPr lvl="1"/>
            <a:r>
              <a:rPr/>
              <a:t>Connecter l’API de segmentation au module de décision du véhicule autonome (freinage d’urgence, maintien de trajectoire).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2026-05-21T17:57:27Z</dcterms:created>
  <dcterms:modified xsi:type="dcterms:W3CDTF">2026-05-21T17:57:27Z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